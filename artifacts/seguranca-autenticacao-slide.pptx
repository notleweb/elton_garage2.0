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login compara a senha com bcrypt e emite um JWT assinado com a identidade e o perfil, válido por sete dias. As rotas privadas verificam o token; o cookie é HttpOnly e Secure em produção. O limite de tentativas reduz abusos no login, e as respostas de erro diferenciam validação, autenticação, origem não permitida e falhas internas registradas.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82296" cy="60350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3891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60" kern="0" dirty="0">
                <a:solidFill>
                  <a:srgbClr val="F5F7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SEGURANÇA &amp; AUTENTICAÇÃO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83210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C0C8"/>
                </a:solidFill>
              </a:rPr>
              <a:t>Controle de acesso e tratamento de falhas na 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14212A"/>
          </a:solidFill>
          <a:ln w="12700">
            <a:solidFill>
              <a:srgbClr val="3041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270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70" kern="0" dirty="0">
                <a:solidFill>
                  <a:srgbClr val="66B7E8"/>
                </a:solidFill>
              </a:rPr>
              <a:t>LOGIN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17922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4C0C8"/>
                </a:solidFill>
              </a:rPr>
              <a:t>email + senha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30752" y="15270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70" kern="0" dirty="0">
                <a:solidFill>
                  <a:srgbClr val="F4C542"/>
                </a:solidFill>
              </a:rPr>
              <a:t>JWT ASSINADO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30752" y="179222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4C0C8"/>
                </a:solidFill>
              </a:rPr>
              <a:t>identidade + perfil · expira em 7 dias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0" y="152704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70" kern="0" dirty="0">
                <a:solidFill>
                  <a:srgbClr val="73D3AC"/>
                </a:solidFill>
              </a:rPr>
              <a:t>ROTAS PRIVADAS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179222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4C0C8"/>
                </a:solidFill>
              </a:rPr>
              <a:t>middleware valida o token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55848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542"/>
                </a:solidFill>
              </a:rPr>
              <a:t>›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39712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542"/>
                </a:solidFill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" y="2487168"/>
            <a:ext cx="3547872" cy="2587752"/>
          </a:xfrm>
          <a:prstGeom prst="roundRect">
            <a:avLst>
              <a:gd name="adj" fmla="val 2827"/>
            </a:avLst>
          </a:prstGeom>
          <a:solidFill>
            <a:srgbClr val="1A2833"/>
          </a:solidFill>
          <a:ln w="12700">
            <a:solidFill>
              <a:srgbClr val="3041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87168"/>
            <a:ext cx="3547872" cy="50292"/>
          </a:xfrm>
          <a:prstGeom prst="rect">
            <a:avLst/>
          </a:prstGeom>
          <a:solidFill>
            <a:srgbClr val="66B7E8"/>
          </a:solidFill>
          <a:ln w="12700">
            <a:solidFill>
              <a:srgbClr val="66B7E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273405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66B7E8"/>
                </a:solidFill>
              </a:rPr>
              <a:t>01  IDENTIDADE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2376" y="3035808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 confiável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0664" y="3630168"/>
            <a:ext cx="73152" cy="73152"/>
          </a:xfrm>
          <a:prstGeom prst="ellipse">
            <a:avLst/>
          </a:prstGeom>
          <a:solidFill>
            <a:srgbClr val="66B7E8"/>
          </a:solidFill>
          <a:ln w="12700">
            <a:solidFill>
              <a:srgbClr val="66B7E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66160"/>
            <a:ext cx="2889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4C0C8"/>
                </a:solidFill>
              </a:rPr>
              <a:t>Credenciais verificadas com bcrypt.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664" y="4078224"/>
            <a:ext cx="73152" cy="73152"/>
          </a:xfrm>
          <a:prstGeom prst="ellipse">
            <a:avLst/>
          </a:prstGeom>
          <a:solidFill>
            <a:srgbClr val="66B7E8"/>
          </a:solidFill>
          <a:ln w="12700">
            <a:solidFill>
              <a:srgbClr val="66B7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14216"/>
            <a:ext cx="2889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4C0C8"/>
                </a:solidFill>
              </a:rPr>
              <a:t>Somente usuários ativos recebem acesso.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0664" y="4526280"/>
            <a:ext cx="73152" cy="73152"/>
          </a:xfrm>
          <a:prstGeom prst="ellipse">
            <a:avLst/>
          </a:prstGeom>
          <a:solidFill>
            <a:srgbClr val="66B7E8"/>
          </a:solidFill>
          <a:ln w="12700">
            <a:solidFill>
              <a:srgbClr val="66B7E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462272"/>
            <a:ext cx="2889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4C0C8"/>
                </a:solidFill>
              </a:rPr>
              <a:t>Perfil (role) acompanha a identidade no JWT.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2487168"/>
            <a:ext cx="3547872" cy="2587752"/>
          </a:xfrm>
          <a:prstGeom prst="roundRect">
            <a:avLst>
              <a:gd name="adj" fmla="val 2827"/>
            </a:avLst>
          </a:prstGeom>
          <a:solidFill>
            <a:srgbClr val="1A2833"/>
          </a:solidFill>
          <a:ln w="12700">
            <a:solidFill>
              <a:srgbClr val="3041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15968" y="2487168"/>
            <a:ext cx="3547872" cy="5029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5424" y="273405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4C542"/>
                </a:solidFill>
              </a:rPr>
              <a:t>02  SESSÃO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35424" y="3035808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protegido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53712" y="3630168"/>
            <a:ext cx="73152" cy="73152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3566160"/>
            <a:ext cx="2889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4C0C8"/>
                </a:solidFill>
              </a:rPr>
              <a:t>Token JWT com validade de 7 dias.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53712" y="4078224"/>
            <a:ext cx="73152" cy="73152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4014216"/>
            <a:ext cx="2889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4C0C8"/>
                </a:solidFill>
              </a:rPr>
              <a:t>Cookie HttpOnly; Secure em produção.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53712" y="4526280"/>
            <a:ext cx="73152" cy="73152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4462272"/>
            <a:ext cx="2889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4C0C8"/>
                </a:solidFill>
              </a:rPr>
              <a:t>SESSION_SECRET vem do ambiente.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29016" y="2487168"/>
            <a:ext cx="3547872" cy="2587752"/>
          </a:xfrm>
          <a:prstGeom prst="roundRect">
            <a:avLst>
              <a:gd name="adj" fmla="val 2827"/>
            </a:avLst>
          </a:prstGeom>
          <a:solidFill>
            <a:srgbClr val="1A2833"/>
          </a:solidFill>
          <a:ln w="12700">
            <a:solidFill>
              <a:srgbClr val="3041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29016" y="2487168"/>
            <a:ext cx="3547872" cy="50292"/>
          </a:xfrm>
          <a:prstGeom prst="rect">
            <a:avLst/>
          </a:prstGeom>
          <a:solidFill>
            <a:srgbClr val="73D3AC"/>
          </a:solidFill>
          <a:ln w="12700">
            <a:solidFill>
              <a:srgbClr val="73D3A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48472" y="273405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73D3AC"/>
                </a:solidFill>
              </a:rPr>
              <a:t>03  RESILIÊNCIA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48472" y="3035808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Falhas controladas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366760" y="3630168"/>
            <a:ext cx="73152" cy="73152"/>
          </a:xfrm>
          <a:prstGeom prst="ellipse">
            <a:avLst/>
          </a:prstGeom>
          <a:solidFill>
            <a:srgbClr val="73D3AC"/>
          </a:solidFill>
          <a:ln w="12700">
            <a:solidFill>
              <a:srgbClr val="73D3A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0496" y="3566160"/>
            <a:ext cx="2889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4C0C8"/>
                </a:solidFill>
              </a:rPr>
              <a:t>Rotas privadas: 401 para token ausente ou inválido.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66760" y="4078224"/>
            <a:ext cx="73152" cy="73152"/>
          </a:xfrm>
          <a:prstGeom prst="ellipse">
            <a:avLst/>
          </a:prstGeom>
          <a:solidFill>
            <a:srgbClr val="73D3AC"/>
          </a:solidFill>
          <a:ln w="12700">
            <a:solidFill>
              <a:srgbClr val="73D3A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0496" y="4014216"/>
            <a:ext cx="2889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4C0C8"/>
                </a:solidFill>
              </a:rPr>
              <a:t>Login limitado: 20 tentativas / 15 min.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366760" y="4526280"/>
            <a:ext cx="73152" cy="73152"/>
          </a:xfrm>
          <a:prstGeom prst="ellipse">
            <a:avLst/>
          </a:prstGeom>
          <a:solidFill>
            <a:srgbClr val="73D3AC"/>
          </a:solidFill>
          <a:ln w="12700">
            <a:solidFill>
              <a:srgbClr val="73D3A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40496" y="4462272"/>
            <a:ext cx="2889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4C0C8"/>
                </a:solidFill>
              </a:rPr>
              <a:t>Erros: 400 validação · 403 origem · 500 logado.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5394960"/>
            <a:ext cx="11155680" cy="0"/>
          </a:xfrm>
          <a:prstGeom prst="line">
            <a:avLst/>
          </a:prstGeom>
          <a:noFill/>
          <a:ln w="12700">
            <a:solidFill>
              <a:srgbClr val="3041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650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C542"/>
                </a:solidFill>
              </a:rPr>
              <a:t>RESULTADO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783080" y="5596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8"/>
                </a:solidFill>
              </a:rPr>
              <a:t>Acesso autenticado · rotas protegidas · erros padronizados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747504" y="56692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10" kern="0" dirty="0">
                <a:solidFill>
                  <a:srgbClr val="B4C0C8"/>
                </a:solidFill>
              </a:rPr>
              <a:t>ELTON GARAGE 2.0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Elton Garage 2.0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Segurança e autenticação | Elton Garage 2.0</dc:title>
  <dc:subject>Segurança e autenticação</dc:subject>
  <dc:creator>Elton Garage 2.0</dc:creator>
  <cp:lastModifiedBy>Elton Garage 2.0</cp:lastModifiedBy>
  <cp:revision>1</cp:revision>
  <dcterms:created xsi:type="dcterms:W3CDTF">2026-10-13T15:34:38Z</dcterms:created>
  <dcterms:modified xsi:type="dcterms:W3CDTF">2026-10-13T15:34:38Z</dcterms:modified>
</cp:coreProperties>
</file>